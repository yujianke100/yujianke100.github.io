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914400"/>
            <a:ext cx="121916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59E0B"/>
                </a:solidFill>
              </a:defRPr>
            </a:pPr>
            <a:r>
              <a:t>GLake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E2E8F0"/>
                </a:solidFill>
              </a:defRPr>
            </a:pPr>
            <a:r>
              <a:t>所有数据在一个网页，按项目分门别类，AI全程辅助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2651760"/>
            <a:ext cx="5760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>
                <a:solidFill>
                  <a:srgbClr val="06B6D4"/>
                </a:solidFill>
              </a:defRPr>
            </a:pPr>
            <a:r>
              <a:t>从"四处找数据"到"数据来找你"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383280"/>
            <a:ext cx="941832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 b="0">
                <a:solidFill>
                  <a:srgbClr val="F59E0B"/>
                </a:solidFill>
              </a:defRPr>
            </a:pPr>
            <a:r>
              <a:t>🧐 用一个例子理解 GLake 在解决什么问题</a:t>
            </a:r>
          </a:p>
          <a:p>
            <a:pPr algn="l">
              <a:defRPr sz="1800" b="0">
                <a:solidFill>
                  <a:srgbClr val="E2E8F0"/>
                </a:solidFill>
              </a:defRPr>
            </a:pPr>
            <a:r>
              <a:t>研究"新能源汽车补贴政策对产业链的影响"——</a:t>
            </a:r>
          </a:p>
          <a:p>
            <a:pPr algn="l">
              <a:defRPr sz="1800" b="0">
                <a:solidFill>
                  <a:srgbClr val="F59E0B"/>
                </a:solidFill>
              </a:defRPr>
            </a:pPr>
            <a:r>
              <a:t>需要政策文本、企业数据、供应链关系、历史案例，但这些数据分散在各处，怎么管？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303520"/>
            <a:ext cx="5029200" cy="12801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EF4444"/>
                </a:solidFill>
              </a:defRPr>
            </a:pPr>
            <a:r>
              <a:t>传统做法（即使有AI）</a:t>
            </a:r>
          </a:p>
          <a:p>
            <a:pPr algn="l">
              <a:defRPr sz="1200" b="0">
                <a:solidFill>
                  <a:srgbClr val="FFFFFF"/>
                </a:solidFill>
              </a:defRPr>
            </a:pPr>
            <a:r>
              <a:t>让AI写脚本导入CSV——能跑。但下一次呢？脚本丢在哪？格式变了谁改？没有标准化，每次都从零开始。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5303520"/>
            <a:ext cx="5029200" cy="12801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GLake做法</a:t>
            </a:r>
          </a:p>
          <a:p>
            <a:pPr algn="l">
              <a:defRPr sz="1200" b="0">
                <a:solidFill>
                  <a:srgbClr val="FFFFFF"/>
                </a:solidFill>
              </a:defRPr>
            </a:pPr>
            <a:r>
              <a:t>AI按标准化流程导入数据→按项目组织好→每份数据带标签、说明文档、可看样本。所有数据一个网页，从头到尾标准化，可复现可传承。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🏗️ 四句话说清 GLake 怎么工作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256032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0">
                <a:solidFill>
                  <a:srgbClr val="F59E0B"/>
                </a:solidFill>
              </a:defRPr>
            </a:pPr>
            <a:r>
              <a:t>①</a:t>
            </a:r>
          </a:p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放数据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结构化→Parquet表</a:t>
            </a:r>
            <a:br/>
            <a:r>
              <a:t>文件→原样保存</a:t>
            </a:r>
            <a:br/>
            <a:r>
              <a:t>各归其位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46120" y="914400"/>
            <a:ext cx="256032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0">
                <a:solidFill>
                  <a:srgbClr val="F59E0B"/>
                </a:solidFill>
              </a:defRPr>
            </a:pPr>
            <a:r>
              <a:t>②</a:t>
            </a:r>
          </a:p>
          <a:p>
            <a:pPr algn="ctr">
              <a:defRPr sz="1800" b="1">
                <a:solidFill>
                  <a:srgbClr val="FFFFFF"/>
                </a:solidFill>
              </a:defRPr>
            </a:pPr>
            <a:r>
              <a:t>管目录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记录每份数据在哪、</a:t>
            </a:r>
            <a:br/>
            <a:r>
              <a:t>有什么标签、谁能用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914400"/>
            <a:ext cx="256032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0">
                <a:solidFill>
                  <a:srgbClr val="F59E0B"/>
                </a:solidFill>
              </a:defRPr>
            </a:pPr>
            <a:r>
              <a:t>③</a:t>
            </a:r>
          </a:p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操作它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WebUI像逛文件夹</a:t>
            </a:r>
            <a:br/>
            <a:r>
              <a:t>API给程序调用</a:t>
            </a:r>
            <a:br/>
            <a:r>
              <a:t>AI帮忙导入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23960" y="914400"/>
            <a:ext cx="256032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0">
                <a:solidFill>
                  <a:srgbClr val="F59E0B"/>
                </a:solidFill>
              </a:defRPr>
            </a:pPr>
            <a:r>
              <a:t>④</a:t>
            </a:r>
          </a:p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做运算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格式转换在独立</a:t>
            </a:r>
            <a:br/>
            <a:r>
              <a:t>沙箱处理</a:t>
            </a:r>
            <a:br/>
            <a:r>
              <a:t>不占管理节点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🤖 AI 帮你走完数据全流程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91840"/>
            <a:ext cx="1554480" cy="1371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1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开项目</a:t>
            </a:r>
          </a:p>
          <a:p>
            <a:pPr algn="ctr">
              <a:defRPr sz="1100" b="0">
                <a:solidFill>
                  <a:srgbClr val="FFFFFF"/>
                </a:solidFill>
              </a:defRPr>
            </a:pPr>
            <a:r>
              <a:t>WebUI创建</a:t>
            </a:r>
            <a:br/>
            <a:r>
              <a:t>自动生成Key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3291840"/>
            <a:ext cx="1554480" cy="1371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2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告诉AI</a:t>
            </a:r>
          </a:p>
          <a:p>
            <a:pPr algn="ctr">
              <a:defRPr sz="1100" b="0">
                <a:solidFill>
                  <a:srgbClr val="FFFFFF"/>
                </a:solidFill>
              </a:defRPr>
            </a:pPr>
            <a:r>
              <a:t>把这份数据导进来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3291840"/>
            <a:ext cx="1554480" cy="1371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3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AI出脚本</a:t>
            </a:r>
          </a:p>
          <a:p>
            <a:pPr algn="ctr">
              <a:defRPr sz="1100" b="0">
                <a:solidFill>
                  <a:srgbClr val="FFFFFF"/>
                </a:solidFill>
              </a:defRPr>
            </a:pPr>
            <a:r>
              <a:t>按规范模板自动生成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3291840"/>
            <a:ext cx="1554480" cy="1371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4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执行导入</a:t>
            </a:r>
          </a:p>
          <a:p>
            <a:pPr algn="ctr">
              <a:defRPr sz="1100" b="0">
                <a:solidFill>
                  <a:srgbClr val="FFFFFF"/>
                </a:solidFill>
              </a:defRPr>
            </a:pPr>
            <a:r>
              <a:t>CSV→Parquet</a:t>
            </a:r>
            <a:br/>
            <a:r>
              <a:t>自动上传注册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3291840"/>
            <a:ext cx="1554480" cy="1371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5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自动更新</a:t>
            </a:r>
          </a:p>
          <a:p>
            <a:pPr algn="ctr">
              <a:defRPr sz="1100" b="0">
                <a:solidFill>
                  <a:srgbClr val="FFFFFF"/>
                </a:solidFill>
              </a:defRPr>
            </a:pPr>
            <a:r>
              <a:t>设定周期</a:t>
            </a:r>
            <a:br/>
            <a:r>
              <a:t>以后不用管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3291840"/>
            <a:ext cx="1554480" cy="1371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6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AI查分析</a:t>
            </a:r>
          </a:p>
          <a:p>
            <a:pPr algn="ctr">
              <a:defRPr sz="1100" b="0">
                <a:solidFill>
                  <a:srgbClr val="FFFFFF"/>
                </a:solidFill>
              </a:defRPr>
            </a:pPr>
            <a:r>
              <a:t>直接在网页</a:t>
            </a:r>
            <a:br/>
            <a:r>
              <a:t>问AI做查询分析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029200"/>
            <a:ext cx="11247120" cy="15544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F59E0B"/>
                </a:solidFill>
              </a:defRPr>
            </a:pPr>
            <a:r>
              <a:t>🔧 存储算力灵活扩展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数据存在本地（MinIO）还是云端（OSS）？改一个配置就切换，代码不用动。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算力不够了可扩展到集群节点做并行处理；数据压缩率高、查询快，省大量存储空间。</a:t>
            </a:r>
          </a:p>
          <a:p>
            <a:pPr algn="l">
              <a:defRPr sz="1300" b="0">
                <a:solidFill>
                  <a:srgbClr val="94A3B8"/>
                </a:solidFill>
              </a:defRPr>
            </a:pPr>
            <a:r>
              <a:t>定时任务——设定好更新计划，平台自动定期拉取新数据，不用人手动操作。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📊 五大数据资源，GLake 统一管理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731520"/>
            <a:ext cx="205740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59E0B"/>
                </a:solidFill>
              </a:defRPr>
            </a:pPr>
            <a:r>
              <a:t>129万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📄 政策</a:t>
            </a:r>
          </a:p>
          <a:p>
            <a:pPr algn="ctr">
              <a:defRPr sz="1100" b="0">
                <a:solidFill>
                  <a:srgbClr val="94A3B8"/>
                </a:solidFill>
              </a:defRPr>
            </a:pPr>
            <a:r>
              <a:t>国家→省→市→县</a:t>
            </a:r>
            <a:br/>
            <a:r>
              <a:t>全文+标题+标签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97480" y="731520"/>
            <a:ext cx="205740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38BDF8"/>
                </a:solidFill>
              </a:defRPr>
            </a:pPr>
            <a:r>
              <a:t>1.637亿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⚖️ 裁判文书</a:t>
            </a:r>
          </a:p>
          <a:p>
            <a:pPr algn="ctr">
              <a:defRPr sz="1100" b="0">
                <a:solidFill>
                  <a:srgbClr val="94A3B8"/>
                </a:solidFill>
              </a:defRPr>
            </a:pPr>
            <a:r>
              <a:t>全国法院全覆盖</a:t>
            </a:r>
            <a:br/>
            <a:r>
              <a:t>36个关键字段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60" y="731520"/>
            <a:ext cx="205740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34D399"/>
                </a:solidFill>
              </a:defRPr>
            </a:pPr>
            <a:r>
              <a:t>497万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📜 法规</a:t>
            </a:r>
          </a:p>
          <a:p>
            <a:pPr algn="ctr">
              <a:defRPr sz="1100" b="0">
                <a:solidFill>
                  <a:srgbClr val="94A3B8"/>
                </a:solidFill>
              </a:defRPr>
            </a:pPr>
            <a:r>
              <a:t>法律·法规·规章</a:t>
            </a:r>
            <a:br/>
            <a:r>
              <a:t>44字段精细分类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78040" y="731520"/>
            <a:ext cx="205740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A78BFA"/>
                </a:solidFill>
              </a:defRPr>
            </a:pPr>
            <a:r>
              <a:t>187亿+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🌍 LinkedIn</a:t>
            </a:r>
          </a:p>
          <a:p>
            <a:pPr algn="ctr">
              <a:defRPr sz="1100" b="0">
                <a:solidFill>
                  <a:srgbClr val="94A3B8"/>
                </a:solidFill>
              </a:defRPr>
            </a:pPr>
            <a:r>
              <a:t>全球20+张专业表</a:t>
            </a:r>
            <a:br/>
            <a:r>
              <a:t>人才·企业·岗位·技能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18320" y="731520"/>
            <a:ext cx="2057400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472B6"/>
                </a:solidFill>
              </a:defRPr>
            </a:pPr>
            <a:r>
              <a:t>5轮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🏠 CHFS</a:t>
            </a:r>
          </a:p>
          <a:p>
            <a:pPr algn="ctr">
              <a:defRPr sz="1100" b="0">
                <a:solidFill>
                  <a:srgbClr val="94A3B8"/>
                </a:solidFill>
              </a:defRPr>
            </a:pPr>
            <a:r>
              <a:t>2011-2019全覆盖</a:t>
            </a:r>
            <a:br/>
            <a:r>
              <a:t>家庭·个人·综合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💡 GLake 的核心优势：传统做法 vs GLake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5303520" cy="65836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0">
                <a:solidFill>
                  <a:srgbClr val="06B6D4"/>
                </a:solidFill>
              </a:defRPr>
            </a:pPr>
            <a:r>
              <a:t>📂 传统：数据散落各处，文件夹式管理靠人工</a:t>
            </a:r>
          </a:p>
          <a:p>
            <a:pPr algn="l">
              <a:defRPr sz="1100" b="0">
                <a:solidFill>
                  <a:srgbClr val="FFFFFF"/>
                </a:solidFill>
              </a:defRPr>
            </a:pPr>
            <a:r>
              <a:t>GLake：所有数据一个网页，按项目分门别类。每份数据有标签、说明文档、可翻看样本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017520"/>
            <a:ext cx="5303520" cy="65836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0">
                <a:solidFill>
                  <a:srgbClr val="06B6D4"/>
                </a:solidFill>
              </a:defRPr>
            </a:pPr>
            <a:r>
              <a:t>🤖 传统：导数据写脚本→另开工具分析→做完就忘</a:t>
            </a:r>
          </a:p>
          <a:p>
            <a:pPr algn="l">
              <a:defRPr sz="1100" b="0">
                <a:solidFill>
                  <a:srgbClr val="FFFFFF"/>
                </a:solidFill>
              </a:defRPr>
            </a:pPr>
            <a:r>
              <a:t>GLake：AI贯穿全程——AI导入数据，也AI做查询和分析。从导入到出结果一个网页完成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49040"/>
            <a:ext cx="5303520" cy="65836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0">
                <a:solidFill>
                  <a:srgbClr val="06B6D4"/>
                </a:solidFill>
              </a:defRPr>
            </a:pPr>
            <a:r>
              <a:t>🔧 传统：存储满了迁移是噩梦，算力不够卡死</a:t>
            </a:r>
          </a:p>
          <a:p>
            <a:pPr algn="l">
              <a:defRPr sz="1100" b="0">
                <a:solidFill>
                  <a:srgbClr val="FFFFFF"/>
                </a:solidFill>
              </a:defRPr>
            </a:pPr>
            <a:r>
              <a:t>GLake：存储算力按需迁移扩展，甚至到集群。数据压缩率高、查询快，省大量存储和算力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749040"/>
            <a:ext cx="5303520" cy="65836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D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0">
                <a:solidFill>
                  <a:srgbClr val="06B6D4"/>
                </a:solidFill>
              </a:defRPr>
            </a:pPr>
            <a:r>
              <a:t>⏰ 传统：定期数据每次手动拉，漏一次分析全偏</a:t>
            </a:r>
          </a:p>
          <a:p>
            <a:pPr algn="l">
              <a:defRPr sz="1100" b="0">
                <a:solidFill>
                  <a:srgbClr val="FFFFFF"/>
                </a:solidFill>
              </a:defRPr>
            </a:pPr>
            <a:r>
              <a:t>GLake：定时任务设好，平台自动定期更新数据，不用操心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5486400"/>
            <a:ext cx="9418320" cy="7315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让任何团队花最少力气，拥有自己的数据基础设施</a:t>
            </a:r>
          </a:p>
          <a:p>
            <a:pPr algn="ctr">
              <a:defRPr sz="1200" b="0">
                <a:solidFill>
                  <a:srgbClr val="FFFFFF"/>
                </a:solidFill>
              </a:defRPr>
            </a:pPr>
            <a:r>
              <a:t>一台 Linux + Docker 搞定搭建 · 可复现 · 可传承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