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48840"/>
            <a:ext cx="1072865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4400" b="1">
                <a:solidFill>
                  <a:srgbClr val="FBBF24"/>
                </a:solidFill>
              </a:defRPr>
            </a:pPr>
            <a:r>
              <a:t>类型级本体构建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3200400"/>
            <a:ext cx="96313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600" b="0">
                <a:solidFill>
                  <a:srgbClr val="F1F5F9"/>
                </a:solidFill>
              </a:defRPr>
            </a:pPr>
            <a:r>
              <a:t>从大规模文本中学习 Schema：LLM 抽取 → 统计收敛 → 增量拼接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703320"/>
            <a:ext cx="8899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250" b="0">
                <a:solidFill>
                  <a:srgbClr val="94A3B8"/>
                </a:solidFill>
              </a:defRPr>
            </a:pPr>
            <a:r>
              <a:t>阶段进度汇报 · 三域实证（法律 / 欧盟法 / 计算机科学）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4297680"/>
            <a:ext cx="5422392" cy="457200"/>
          </a:xfrm>
          <a:prstGeom prst="roundRect">
            <a:avLst>
              <a:gd name="adj" fmla="val 8000"/>
            </a:avLst>
          </a:prstGeom>
          <a:solidFill>
            <a:srgbClr val="101C28"/>
          </a:solidFill>
          <a:ln w="12700">
            <a:solidFill>
              <a:srgbClr val="1E4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0" y="4370832"/>
            <a:ext cx="523951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150" b="0">
                <a:solidFill>
                  <a:srgbClr val="38BDF8"/>
                </a:solidFill>
              </a:defRPr>
            </a:pPr>
            <a:r>
              <a:t>类型级（TBox）· 统计收敛作归纳偏置 · 单数据集域内自适应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772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2500" b="1">
                <a:solidFill>
                  <a:srgbClr val="FBBF24"/>
                </a:solidFill>
              </a:defRPr>
            </a:pPr>
            <a:r>
              <a:t>这项研究在解决什么问题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</a:defRPr>
            </a:pPr>
            <a:r>
              <a:t>把"读文本 → 写本体"这件本该由人做的 Schema 设计工作，交给机器做，并且做得可验证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5565495" cy="1074420"/>
          </a:xfrm>
          <a:prstGeom prst="roundRect">
            <a:avLst>
              <a:gd name="adj" fmla="val 8000"/>
            </a:avLst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1636776"/>
            <a:ext cx="5272887" cy="9098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A78BFA"/>
                </a:solidFill>
              </a:defRPr>
            </a:pPr>
            <a:r>
              <a:t>目标</a:t>
            </a:r>
          </a:p>
          <a:p>
            <a:pPr>
              <a:spcBef>
                <a:spcPts val="200"/>
              </a:spcBef>
              <a:defRPr sz="1050" b="0">
                <a:solidFill>
                  <a:srgbClr val="CBD5E1"/>
                </a:solidFill>
              </a:defRPr>
            </a:pPr>
            <a:r>
              <a:t>从大规模领域文本中自动学习类型级本体（TBox：类型 + 上下位关系），而不是只做逐实例的 ABox 填充。本体是一套 Schema——它可以反过来约束、校验、复用在下游的图构建与推理上。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68999" y="1554480"/>
            <a:ext cx="5565495" cy="1074420"/>
          </a:xfrm>
          <a:prstGeom prst="roundRect">
            <a:avLst>
              <a:gd name="adj" fmla="val 8000"/>
            </a:avLst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15303" y="1636776"/>
            <a:ext cx="5272887" cy="9098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A78BFA"/>
                </a:solidFill>
              </a:defRPr>
            </a:pPr>
            <a:r>
              <a:t>为什么难</a:t>
            </a:r>
          </a:p>
          <a:p>
            <a:pPr>
              <a:spcBef>
                <a:spcPts val="200"/>
              </a:spcBef>
              <a:defRPr sz="980" b="0">
                <a:solidFill>
                  <a:srgbClr val="CBD5E1"/>
                </a:solidFill>
              </a:defRPr>
            </a:pPr>
            <a:r>
              <a:t>① 抽取本身有噪声，且每次运行结果都在变；② 同一概念在文本里有多种叫法（异词同义），越高频越碎；③ 层级关系在文本里是隐含的，不能靠名字相似度猜；④ 缺少该规模下的人工标注真值，评价口径本身要设计。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91839"/>
            <a:ext cx="11277295" cy="777240"/>
          </a:xfrm>
          <a:prstGeom prst="roundRect">
            <a:avLst>
              <a:gd name="adj" fmla="val 8000"/>
            </a:avLst>
          </a:prstGeom>
          <a:solidFill>
            <a:srgbClr val="1A1D18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3346703"/>
            <a:ext cx="50292" cy="667512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364991"/>
            <a:ext cx="10911535" cy="630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</a:defRPr>
            </a:pPr>
            <a:r>
              <a:t>核心思路：单个文档里"谁是上位类型"不可靠，但跨文档的统计频次可靠 —— 把类型级统计分布当作归纳偏置：频次决定"谁值得进本体、谁和谁能合并、谁是谁的上位"，LLM 只负责它擅长的语义判断。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772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2500" b="1">
                <a:solidFill>
                  <a:srgbClr val="FBBF24"/>
                </a:solidFill>
              </a:defRPr>
            </a:pPr>
            <a:r>
              <a:t>方法主线：三阶段流水线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</a:defRPr>
            </a:pPr>
            <a:r>
              <a:t>每一阶段都有明确的机器可检验产物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2613583" cy="566928"/>
          </a:xfrm>
          <a:prstGeom prst="roundRect">
            <a:avLst>
              <a:gd name="adj" fmla="val 8000"/>
            </a:avLst>
          </a:prstGeom>
          <a:solidFill>
            <a:srgbClr val="161F2E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1609344"/>
            <a:ext cx="250385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000" b="1">
                <a:solidFill>
                  <a:srgbClr val="34D399"/>
                </a:solidFill>
              </a:defRPr>
            </a:pPr>
            <a:r>
              <a:t>① LLM 抽取（类型 / 关系 / 三层）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70783" y="1609344"/>
            <a:ext cx="274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45103" y="1554480"/>
            <a:ext cx="2613583" cy="566928"/>
          </a:xfrm>
          <a:prstGeom prst="roundRect">
            <a:avLst>
              <a:gd name="adj" fmla="val 8000"/>
            </a:avLst>
          </a:prstGeom>
          <a:solidFill>
            <a:srgbClr val="161F2E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99967" y="1609344"/>
            <a:ext cx="250385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② 类型级统计收敛（频次即归纳偏置）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58687" y="1609344"/>
            <a:ext cx="274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554480"/>
            <a:ext cx="2613583" cy="566928"/>
          </a:xfrm>
          <a:prstGeom prst="roundRect">
            <a:avLst>
              <a:gd name="adj" fmla="val 8000"/>
            </a:avLst>
          </a:prstGeom>
          <a:solidFill>
            <a:srgbClr val="161F2E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87871" y="1609344"/>
            <a:ext cx="250385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000" b="1">
                <a:solidFill>
                  <a:srgbClr val="A78BFA"/>
                </a:solidFill>
              </a:defRPr>
            </a:pPr>
            <a:r>
              <a:t>③ 增量拼接（ConceptCard + 局部操作）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46591" y="1609344"/>
            <a:ext cx="274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20911" y="1554480"/>
            <a:ext cx="2613583" cy="566928"/>
          </a:xfrm>
          <a:prstGeom prst="roundRect">
            <a:avLst>
              <a:gd name="adj" fmla="val 8000"/>
            </a:avLst>
          </a:prstGeom>
          <a:solidFill>
            <a:srgbClr val="161F2E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75775" y="1609344"/>
            <a:ext cx="250385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000" b="1">
                <a:solidFill>
                  <a:srgbClr val="FBBF24"/>
                </a:solidFill>
              </a:defRPr>
            </a:pPr>
            <a:r>
              <a:t>本体树（类型 + 上下位）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304288"/>
            <a:ext cx="5565495" cy="1074420"/>
          </a:xfrm>
          <a:prstGeom prst="roundRect">
            <a:avLst>
              <a:gd name="adj" fmla="val 8000"/>
            </a:avLst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2386584"/>
            <a:ext cx="5272887" cy="9098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FBBF24"/>
                </a:solidFill>
              </a:defRPr>
            </a:pPr>
            <a:r>
              <a:t>设计 A · 三层类型作"坐标"</a:t>
            </a:r>
          </a:p>
          <a:p>
            <a:pPr>
              <a:spcBef>
                <a:spcPts val="200"/>
              </a:spcBef>
              <a:defRPr sz="980" b="0">
                <a:solidFill>
                  <a:srgbClr val="CBD5E1"/>
                </a:solidFill>
              </a:defRPr>
            </a:pPr>
            <a:r>
              <a:t>抽取同时产出 direct（最细，作叶子）/ parent（中层，作聚合与匹配层）/ grandparent（粗类，作分区坐标）。实测：L1 不可匹配（巨分量仅 61–92%），L2 恒 100% 连通 → 聚合层必须放在 L2。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8999" y="2304288"/>
            <a:ext cx="5565495" cy="1074420"/>
          </a:xfrm>
          <a:prstGeom prst="roundRect">
            <a:avLst>
              <a:gd name="adj" fmla="val 8000"/>
            </a:avLst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5303" y="2386584"/>
            <a:ext cx="5272887" cy="9098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FBBF24"/>
                </a:solidFill>
              </a:defRPr>
            </a:pPr>
            <a:r>
              <a:t>设计 B · star 结构（关系通配符化）</a:t>
            </a:r>
          </a:p>
          <a:p>
            <a:pPr>
              <a:spcBef>
                <a:spcPts val="200"/>
              </a:spcBef>
              <a:defRPr sz="1050" b="0">
                <a:solidFill>
                  <a:srgbClr val="CBD5E1"/>
                </a:solidFill>
              </a:defRPr>
            </a:pPr>
            <a:r>
              <a:t>三元组把关系换成通配符，碎片变成类型对 (A) —*→ (B)，权重由抽取统计量决定。让"关系层噪声"不再污染结构层，同时保留统计信号。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675887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1A1D18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730751"/>
            <a:ext cx="50292" cy="438912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749039"/>
            <a:ext cx="10911535" cy="4023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</a:defRPr>
            </a:pPr>
            <a:r>
              <a:t>老师口径：不做全泛化 OL，限定单个数据集 —— 因此顶层设计走"域内自适应"，跨域只做可比的锚点层。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772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2500" b="1">
                <a:solidFill>
                  <a:srgbClr val="FBBF24"/>
                </a:solidFill>
              </a:defRPr>
            </a:pPr>
            <a:r>
              <a:t>实验规模：三个域、两套口径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</a:defRPr>
            </a:pPr>
            <a:r>
              <a:t>三域语料规模从数千篇到近万篇，覆盖法律、多语法律、学术论文三类语体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11277295" cy="1408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2582"/>
                <a:gridCol w="3132582"/>
                <a:gridCol w="2923743"/>
                <a:gridCol w="2088388"/>
              </a:tblGrid>
              <a:tr h="352044"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BBF24"/>
                          </a:solidFill>
                        </a:defRPr>
                      </a:pPr>
                      <a:r>
                        <a:t>域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BBF24"/>
                          </a:solidFill>
                        </a:defRPr>
                      </a:pPr>
                      <a:r>
                        <a:t>语料规模（文档 / 三元组）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BBF24"/>
                          </a:solidFill>
                        </a:defRPr>
                      </a:pPr>
                      <a:r>
                        <a:t>可用外部本体（TBox）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BBF24"/>
                          </a:solidFill>
                        </a:defRPr>
                      </a:pPr>
                      <a:r>
                        <a:t>本体树节点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CFR（美国联邦法规）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CBD5E1"/>
                          </a:solidFill>
                        </a:defRPr>
                      </a:pPr>
                      <a:r>
                        <a:t>6,190 / 97,118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LKIF-Core（203 节点）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3,231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MultiEURLEX（欧盟法）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CBD5E1"/>
                          </a:solidFill>
                        </a:defRPr>
                      </a:pPr>
                      <a:r>
                        <a:t>8,262 / 217,645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EuroVoc（7,402 标签）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4,381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arXiv（计算机科学）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CBD5E1"/>
                          </a:solidFill>
                        </a:defRPr>
                      </a:pPr>
                      <a:r>
                        <a:t>2,173 / 175,573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ACM CCS（13 类）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495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3127248"/>
            <a:ext cx="3661562" cy="868680"/>
          </a:xfrm>
          <a:prstGeom prst="roundRect">
            <a:avLst>
              <a:gd name="adj" fmla="val 8000"/>
            </a:avLst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3209544"/>
            <a:ext cx="3368954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FBBF24"/>
                </a:solidFill>
              </a:defRPr>
            </a:pPr>
            <a:r>
              <a:t>有 TBox 真值</a:t>
            </a:r>
          </a:p>
          <a:p>
            <a:pPr>
              <a:spcBef>
                <a:spcPts val="200"/>
              </a:spcBef>
              <a:defRPr sz="1050" b="0">
                <a:solidFill>
                  <a:srgbClr val="CBD5E1"/>
                </a:solidFill>
              </a:defRPr>
            </a:pPr>
            <a:r>
              <a:t>4 套标准本体可用于类型级对齐（LKIF / EuroVoc / US Law / ACM CCS）。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65066" y="3127248"/>
            <a:ext cx="3661562" cy="868680"/>
          </a:xfrm>
          <a:prstGeom prst="roundRect">
            <a:avLst>
              <a:gd name="adj" fmla="val 8000"/>
            </a:avLst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11370" y="3209544"/>
            <a:ext cx="3368954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FBBF24"/>
                </a:solidFill>
              </a:defRPr>
            </a:pPr>
            <a:r>
              <a:t>无 ABox 标注</a:t>
            </a:r>
          </a:p>
          <a:p>
            <a:pPr>
              <a:spcBef>
                <a:spcPts val="200"/>
              </a:spcBef>
              <a:defRPr sz="1050" b="0">
                <a:solidFill>
                  <a:srgbClr val="CBD5E1"/>
                </a:solidFill>
              </a:defRPr>
            </a:pPr>
            <a:r>
              <a:t>没有该语料规模下的人工实例标注 → 评价主要靠结构指标 + 类型级对齐 + 人工抽检。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72932" y="3127248"/>
            <a:ext cx="3661562" cy="868680"/>
          </a:xfrm>
          <a:prstGeom prst="roundRect">
            <a:avLst>
              <a:gd name="adj" fmla="val 8000"/>
            </a:avLst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9236" y="3209544"/>
            <a:ext cx="3368954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FBBF24"/>
                </a:solidFill>
              </a:defRPr>
            </a:pPr>
            <a:r>
              <a:t>口径说明</a:t>
            </a:r>
          </a:p>
          <a:p>
            <a:pPr>
              <a:spcBef>
                <a:spcPts val="200"/>
              </a:spcBef>
              <a:defRPr sz="1050" b="0">
                <a:solidFill>
                  <a:srgbClr val="CBD5E1"/>
                </a:solidFill>
              </a:defRPr>
            </a:pPr>
            <a:r>
              <a:t>ACM CCS 是主题分类而非类型本体，不可直接作为质量判据 —— 已在报告中显式标注。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772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2500" b="1">
                <a:solidFill>
                  <a:srgbClr val="FBBF24"/>
                </a:solidFill>
              </a:defRPr>
            </a:pPr>
            <a:r>
              <a:t>阶段进展 ①：抽取层已定稿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</a:defRPr>
            </a:pPr>
            <a:r>
              <a:t>经过版本迭代，三层抽取 prompt 收敛到可用版本，并用两套模型交叉验证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3661562" cy="868680"/>
          </a:xfrm>
          <a:prstGeom prst="roundRect">
            <a:avLst>
              <a:gd name="adj" fmla="val 8000"/>
            </a:avLst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1636776"/>
            <a:ext cx="3368954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FBBF24"/>
                </a:solidFill>
              </a:defRPr>
            </a:pPr>
            <a:r>
              <a:t>类型层 · 定稿 v8c</a:t>
            </a:r>
          </a:p>
          <a:p>
            <a:pPr>
              <a:spcBef>
                <a:spcPts val="200"/>
              </a:spcBef>
              <a:defRPr sz="1050" b="0">
                <a:solidFill>
                  <a:srgbClr val="CBD5E1"/>
                </a:solidFill>
              </a:defRPr>
            </a:pPr>
            <a:r>
              <a:t>27B 本地模型已达更大云端模型的收敛水平（类型数 191 ≈ 194）。内容准确率 99.6%。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65066" y="1554480"/>
            <a:ext cx="3661562" cy="868680"/>
          </a:xfrm>
          <a:prstGeom prst="roundRect">
            <a:avLst>
              <a:gd name="adj" fmla="val 8000"/>
            </a:avLst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11370" y="1636776"/>
            <a:ext cx="3368954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FBBF24"/>
                </a:solidFill>
              </a:defRPr>
            </a:pPr>
            <a:r>
              <a:t>关系层 · 定稿 v9.1</a:t>
            </a:r>
          </a:p>
          <a:p>
            <a:pPr>
              <a:spcBef>
                <a:spcPts val="200"/>
              </a:spcBef>
              <a:defRPr sz="1050" b="0">
                <a:solidFill>
                  <a:srgbClr val="CBD5E1"/>
                </a:solidFill>
              </a:defRPr>
            </a:pPr>
            <a:r>
              <a:t>句子锚定率 72% 完整 / 25% 部分 / 3% 无锚点；三元组约 20.0 条/篇。短板：schema 缺 value / qualifier 槽位。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72932" y="1554480"/>
            <a:ext cx="3661562" cy="868680"/>
          </a:xfrm>
          <a:prstGeom prst="roundRect">
            <a:avLst>
              <a:gd name="adj" fmla="val 8000"/>
            </a:avLst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19236" y="1636776"/>
            <a:ext cx="3368954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FBBF24"/>
                </a:solidFill>
              </a:defRPr>
            </a:pPr>
            <a:r>
              <a:t>三层类型 · 定稿 v13.3</a:t>
            </a:r>
          </a:p>
          <a:p>
            <a:pPr>
              <a:spcBef>
                <a:spcPts val="200"/>
              </a:spcBef>
              <a:defRPr sz="1050" b="0">
                <a:solidFill>
                  <a:srgbClr val="CBD5E1"/>
                </a:solidFill>
              </a:defRPr>
            </a:pPr>
            <a:r>
              <a:t>22 类粗类 + concept 兜底，兜底占比 4.1–6.4%。direct / parent / grandparent 一次产出。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587751"/>
            <a:ext cx="5565495" cy="1074420"/>
          </a:xfrm>
          <a:prstGeom prst="roundRect">
            <a:avLst>
              <a:gd name="adj" fmla="val 8000"/>
            </a:avLst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2670047"/>
            <a:ext cx="5272887" cy="9098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34D399"/>
                </a:solidFill>
              </a:defRPr>
            </a:pPr>
            <a:r>
              <a:t>稳定性（关键结论）</a:t>
            </a:r>
          </a:p>
          <a:p>
            <a:pPr>
              <a:spcBef>
                <a:spcPts val="200"/>
              </a:spcBef>
              <a:defRPr sz="980" b="0">
                <a:solidFill>
                  <a:srgbClr val="CBD5E1"/>
                </a:solidFill>
              </a:defRPr>
            </a:pPr>
            <a:r>
              <a:t>重复抽取的表达层波动大（轮间三元组 Jaccard 0.59，逐篇 0.11–1.00），但概念层 1–2 轮就饱和——重复 5–10 次不再产生新类型。→ 报告必须取 3 轮以上的收敛值，单轮结果不能当结论。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8999" y="2587751"/>
            <a:ext cx="5565495" cy="1074420"/>
          </a:xfrm>
          <a:prstGeom prst="roundRect">
            <a:avLst>
              <a:gd name="adj" fmla="val 8000"/>
            </a:avLst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5303" y="2670047"/>
            <a:ext cx="5272887" cy="9098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34D399"/>
                </a:solidFill>
              </a:defRPr>
            </a:pPr>
            <a:r>
              <a:t>抽取质量</a:t>
            </a:r>
          </a:p>
          <a:p>
            <a:pPr>
              <a:spcBef>
                <a:spcPts val="200"/>
              </a:spcBef>
              <a:defRPr sz="1050" b="0">
                <a:solidFill>
                  <a:srgbClr val="CBD5E1"/>
                </a:solidFill>
              </a:defRPr>
            </a:pPr>
            <a:r>
              <a:t>逐条人工/自动判定：明显错误率 &lt; 1%；语义段按频次加权约 2–4%。两个后端抽出的三元组集合差异很大（Jaccard 0–0.45），但各自抽出的都基本正确 —— 属于互补而非冲突。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772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2500" b="1">
                <a:solidFill>
                  <a:srgbClr val="FBBF24"/>
                </a:solidFill>
              </a:defRPr>
            </a:pPr>
            <a:r>
              <a:t>阶段进展 ②：star 结构的效果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</a:defRPr>
            </a:pPr>
            <a:r>
              <a:t>关系通配符化把"关系层噪声"从结构层剥离，同时显著改善长尾与复现性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2709595" cy="914400"/>
          </a:xfrm>
          <a:prstGeom prst="roundRect">
            <a:avLst>
              <a:gd name="adj" fmla="val 8000"/>
            </a:avLst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25267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2200" b="1">
                <a:solidFill>
                  <a:srgbClr val="34D399"/>
                </a:solidFill>
              </a:defRPr>
            </a:pPr>
            <a:r>
              <a:t>3.6–7.3×</a:t>
            </a:r>
          </a:p>
          <a:p>
            <a:pPr algn="ctr">
              <a:spcBef>
                <a:spcPts val="300"/>
              </a:spcBef>
              <a:defRPr sz="950" b="0">
                <a:solidFill>
                  <a:srgbClr val="94A3B8"/>
                </a:solidFill>
              </a:defRPr>
            </a:pPr>
            <a:r>
              <a:t>碎片压缩倍数（同义/近义碎片被归并）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13099" y="1554480"/>
            <a:ext cx="2709595" cy="914400"/>
          </a:xfrm>
          <a:prstGeom prst="roundRect">
            <a:avLst>
              <a:gd name="adj" fmla="val 8000"/>
            </a:avLst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04539" y="1645920"/>
            <a:ext cx="25267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</a:defRPr>
            </a:pPr>
            <a:r>
              <a:t>60–64% ↓ 41–44%</a:t>
            </a:r>
          </a:p>
          <a:p>
            <a:pPr algn="ctr">
              <a:spcBef>
                <a:spcPts val="300"/>
              </a:spcBef>
              <a:defRPr sz="950" b="0">
                <a:solidFill>
                  <a:srgbClr val="94A3B8"/>
                </a:solidFill>
              </a:defRPr>
            </a:pPr>
            <a:r>
              <a:t>长尾碎片占比（长尾显著收敛）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8999" y="1554480"/>
            <a:ext cx="2709595" cy="914400"/>
          </a:xfrm>
          <a:prstGeom prst="roundRect">
            <a:avLst>
              <a:gd name="adj" fmla="val 8000"/>
            </a:avLst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0439" y="1645920"/>
            <a:ext cx="25267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2200" b="1">
                <a:solidFill>
                  <a:srgbClr val="FBBF24"/>
                </a:solidFill>
              </a:defRPr>
            </a:pPr>
            <a:r>
              <a:t>+25–40%</a:t>
            </a:r>
          </a:p>
          <a:p>
            <a:pPr algn="ctr">
              <a:spcBef>
                <a:spcPts val="300"/>
              </a:spcBef>
              <a:defRPr sz="950" b="0">
                <a:solidFill>
                  <a:srgbClr val="94A3B8"/>
                </a:solidFill>
              </a:defRPr>
            </a:pPr>
            <a:r>
              <a:t>劈半复现性（数据切一半，结论复现率）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24899" y="1554480"/>
            <a:ext cx="2709595" cy="914400"/>
          </a:xfrm>
          <a:prstGeom prst="roundRect">
            <a:avLst>
              <a:gd name="adj" fmla="val 8000"/>
            </a:avLst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16339" y="1645920"/>
            <a:ext cx="25267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2200" b="1">
                <a:solidFill>
                  <a:srgbClr val="A78BFA"/>
                </a:solidFill>
              </a:defRPr>
            </a:pPr>
            <a:r>
              <a:t>不变</a:t>
            </a:r>
          </a:p>
          <a:p>
            <a:pPr algn="ctr">
              <a:spcBef>
                <a:spcPts val="300"/>
              </a:spcBef>
              <a:defRPr sz="950" b="0">
                <a:solidFill>
                  <a:srgbClr val="94A3B8"/>
                </a:solidFill>
              </a:defRPr>
            </a:pPr>
            <a:r>
              <a:t>节点数与覆盖率（不是靠删数据换来的）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33472"/>
            <a:ext cx="5565495" cy="868680"/>
          </a:xfrm>
          <a:prstGeom prst="roundRect">
            <a:avLst>
              <a:gd name="adj" fmla="val 8000"/>
            </a:avLst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2715768"/>
            <a:ext cx="5272887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FBBF24"/>
                </a:solidFill>
              </a:defRPr>
            </a:pPr>
            <a:r>
              <a:t>为什么复现性会提升</a:t>
            </a:r>
          </a:p>
          <a:p>
            <a:pPr>
              <a:spcBef>
                <a:spcPts val="200"/>
              </a:spcBef>
              <a:defRPr sz="1050" b="0">
                <a:solidFill>
                  <a:srgbClr val="CBD5E1"/>
                </a:solidFill>
              </a:defRPr>
            </a:pPr>
            <a:r>
              <a:t>原口径下每个关系的命名变体都会生成一个新的碎片；star 化后同一类型对的多个关系共享一个碎片，统计量随之合并，低频噪声不再各自成片。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8999" y="2633472"/>
            <a:ext cx="5565495" cy="868680"/>
          </a:xfrm>
          <a:prstGeom prst="roundRect">
            <a:avLst>
              <a:gd name="adj" fmla="val 8000"/>
            </a:avLst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5303" y="2715768"/>
            <a:ext cx="5272887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FBBF24"/>
                </a:solidFill>
              </a:defRPr>
            </a:pPr>
            <a:r>
              <a:t>为什么这很重要</a:t>
            </a:r>
          </a:p>
          <a:p>
            <a:pPr>
              <a:spcBef>
                <a:spcPts val="200"/>
              </a:spcBef>
              <a:defRPr sz="1050" b="0">
                <a:solidFill>
                  <a:srgbClr val="CBD5E1"/>
                </a:solidFill>
              </a:defRPr>
            </a:pPr>
            <a:r>
              <a:t>评审最常质疑的是"LLM 抽取不稳定、结论不可复现"。劈半复现性正是对这个质疑的直接回应指标 —— 而 star 化让它提升了 25–40%。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648455"/>
            <a:ext cx="11277295" cy="566928"/>
          </a:xfrm>
          <a:prstGeom prst="roundRect">
            <a:avLst>
              <a:gd name="adj" fmla="val 8000"/>
            </a:avLst>
          </a:prstGeom>
          <a:solidFill>
            <a:srgbClr val="1A1D18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703319"/>
            <a:ext cx="50292" cy="4572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721607"/>
            <a:ext cx="10911535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</a:defRPr>
            </a:pPr>
            <a:r>
              <a:t>方法学结论：结构层（类型对 + 统计权重）比关系层（具体关系名）更稳定 —— 这也解释了为什么后续建树完全基于类型层。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772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2500" b="1">
                <a:solidFill>
                  <a:srgbClr val="FBBF24"/>
                </a:solidFill>
              </a:defRPr>
            </a:pPr>
            <a:r>
              <a:t>阶段进展 ③：从"碎片森林"到单连通本体树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</a:defRPr>
            </a:pPr>
            <a:r>
              <a:t>同一份抽取结果，只改建层级机制，结构指标全线翻转（CFR，同口径质检）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11277294" cy="2505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7362"/>
                <a:gridCol w="2050417"/>
                <a:gridCol w="2050417"/>
                <a:gridCol w="3759098"/>
              </a:tblGrid>
              <a:tr h="313182"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BBF24"/>
                          </a:solidFill>
                        </a:defRPr>
                      </a:pPr>
                      <a:r>
                        <a:t>结构指标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BBF24"/>
                          </a:solidFill>
                        </a:defRPr>
                      </a:pPr>
                      <a:r>
                        <a:t>改机制前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BBF24"/>
                          </a:solidFill>
                        </a:defRPr>
                      </a:pPr>
                      <a:r>
                        <a:t>改机制后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BBF24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</a:tr>
              <a:tr h="313182"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有父节点比例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F87171"/>
                          </a:solidFill>
                        </a:defRPr>
                      </a:pPr>
                      <a:r>
                        <a:t>25.60%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34D399"/>
                          </a:solidFill>
                        </a:defRPr>
                      </a:pPr>
                      <a:r>
                        <a:t>99.97%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此前 74–77% 节点是孤立碎片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</a:tr>
              <a:tr h="313182"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连通分量 / 单节点树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F87171"/>
                          </a:solidFill>
                        </a:defRPr>
                      </a:pPr>
                      <a:r>
                        <a:t>1,891 / 1,683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34D399"/>
                          </a:solidFill>
                        </a:defRPr>
                      </a:pPr>
                      <a:r>
                        <a:t>1 / 0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从"碎片森林"变为单棵连通树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</a:tr>
              <a:tr h="313182"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最大连通树占比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F87171"/>
                          </a:solidFill>
                        </a:defRPr>
                      </a:pPr>
                      <a:r>
                        <a:t>5.55%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34D399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全部节点接入同一棵树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</a:tr>
              <a:tr h="313182"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多父冲突（DAG 冲突）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F87171"/>
                          </a:solidFill>
                        </a:defRPr>
                      </a:pPr>
                      <a:r>
                        <a:t>137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34D399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每个节点唯一父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</a:tr>
              <a:tr h="313182"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上下位边数 / 平均深度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CBD5E1"/>
                          </a:solidFill>
                        </a:defRPr>
                      </a:pPr>
                      <a:r>
                        <a:t>869 / 0.35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34D399"/>
                          </a:solidFill>
                        </a:defRPr>
                      </a:pPr>
                      <a:r>
                        <a:t>3,230 / 2.68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深度封顶 3 层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</a:tr>
              <a:tr h="313182"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对齐标准本体（严格口径）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CBD5E1"/>
                          </a:solidFill>
                        </a:defRPr>
                      </a:pPr>
                      <a:r>
                        <a:t>84（3.09%）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34D399"/>
                          </a:solidFill>
                        </a:defRPr>
                      </a:pPr>
                      <a:r>
                        <a:t>123（3.81%）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绝对命中数提升 46%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</a:tr>
              <a:tr h="313182"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标准本体侧覆盖率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CBD5E1"/>
                          </a:solidFill>
                        </a:defRPr>
                      </a:pPr>
                      <a:r>
                        <a:t>18.05%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34D399"/>
                          </a:solidFill>
                        </a:defRPr>
                      </a:pPr>
                      <a:r>
                        <a:t>23.41%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被覆盖的标准本体节点占比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206240"/>
            <a:ext cx="11277295" cy="658368"/>
          </a:xfrm>
          <a:prstGeom prst="roundRect">
            <a:avLst>
              <a:gd name="adj" fmla="val 8000"/>
            </a:avLst>
          </a:prstGeom>
          <a:solidFill>
            <a:srgbClr val="1A1D18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261103"/>
            <a:ext cx="50292" cy="54864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279392"/>
            <a:ext cx="10911535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</a:defRPr>
            </a:pPr>
            <a:r>
              <a:t>关键机制发现：抽取阶段早就输出了上位类型字段（覆盖率 100%），但旧流水线一处都没引用，层级靠"向量召回 + LLM 重猜"重建 —— 这是覆盖率长期被钉在 22–33% 的真正原因。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772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2500" b="1">
                <a:solidFill>
                  <a:srgbClr val="FBBF24"/>
                </a:solidFill>
              </a:defRPr>
            </a:pPr>
            <a:r>
              <a:t>三域一致，且"变好"不是靠删数据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77291" cy="1408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334"/>
                <a:gridCol w="1523958"/>
                <a:gridCol w="1523958"/>
                <a:gridCol w="1523958"/>
                <a:gridCol w="1523958"/>
                <a:gridCol w="1219167"/>
                <a:gridCol w="1523958"/>
              </a:tblGrid>
              <a:tr h="352044"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BBF24"/>
                          </a:solidFill>
                        </a:defRPr>
                      </a:pPr>
                      <a:r>
                        <a:t>域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BBF24"/>
                          </a:solidFill>
                        </a:defRPr>
                      </a:pPr>
                      <a:r>
                        <a:t>节点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BBF24"/>
                          </a:solidFill>
                        </a:defRPr>
                      </a:pPr>
                      <a:r>
                        <a:t>上下位边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BBF24"/>
                          </a:solidFill>
                        </a:defRPr>
                      </a:pPr>
                      <a:r>
                        <a:t>有父比例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BBF24"/>
                          </a:solidFill>
                        </a:defRPr>
                      </a:pPr>
                      <a:r>
                        <a:t>连通分量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BBF24"/>
                          </a:solidFill>
                        </a:defRPr>
                      </a:pPr>
                      <a:r>
                        <a:t>真环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BBF24"/>
                          </a:solidFill>
                        </a:defRPr>
                      </a:pPr>
                      <a:r>
                        <a:t>粗类数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CFR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CBD5E1"/>
                          </a:solidFill>
                        </a:defRPr>
                      </a:pPr>
                      <a:r>
                        <a:t>3,231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3,230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99.97%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MultiEURLEX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CBD5E1"/>
                          </a:solidFill>
                        </a:defRPr>
                      </a:pPr>
                      <a:r>
                        <a:t>4,381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4,380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99.98%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arXiv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CBD5E1"/>
                          </a:solidFill>
                        </a:defRPr>
                      </a:pPr>
                      <a:r>
                        <a:t>495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494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99.80%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2651760"/>
            <a:ext cx="3661562" cy="868680"/>
          </a:xfrm>
          <a:prstGeom prst="roundRect">
            <a:avLst>
              <a:gd name="adj" fmla="val 8000"/>
            </a:avLst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2734056"/>
            <a:ext cx="3368954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34D399"/>
                </a:solidFill>
              </a:defRPr>
            </a:pPr>
            <a:r>
              <a:t>完整链路抽检 14 条</a:t>
            </a:r>
          </a:p>
          <a:p>
            <a:pPr>
              <a:spcBef>
                <a:spcPts val="200"/>
              </a:spcBef>
              <a:defRPr sz="1050" b="0">
                <a:solidFill>
                  <a:srgbClr val="CBD5E1"/>
                </a:solidFill>
              </a:defRPr>
            </a:pPr>
            <a:r>
              <a:t>12 条明确正确、2 条宽松可接受、0 条错误。例：statute ⊑ legislation ⊑ document ⊑ root。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65066" y="2651760"/>
            <a:ext cx="3661562" cy="868680"/>
          </a:xfrm>
          <a:prstGeom prst="roundRect">
            <a:avLst>
              <a:gd name="adj" fmla="val 8000"/>
            </a:avLst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11370" y="2734056"/>
            <a:ext cx="3368954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34D399"/>
                </a:solidFill>
              </a:defRPr>
            </a:pPr>
            <a:r>
              <a:t>粗类判定抽检 25 条</a:t>
            </a:r>
          </a:p>
          <a:p>
            <a:pPr>
              <a:spcBef>
                <a:spcPts val="200"/>
              </a:spcBef>
              <a:defRPr sz="1050" b="0">
                <a:solidFill>
                  <a:srgbClr val="CBD5E1"/>
                </a:solidFill>
              </a:defRPr>
            </a:pPr>
            <a:r>
              <a:t>10 条明确正确、5 条宽松可接受、0 条明显错误。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72932" y="2651760"/>
            <a:ext cx="3661562" cy="868680"/>
          </a:xfrm>
          <a:prstGeom prst="roundRect">
            <a:avLst>
              <a:gd name="adj" fmla="val 8000"/>
            </a:avLst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19236" y="2734056"/>
            <a:ext cx="3368954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34D399"/>
                </a:solidFill>
              </a:defRPr>
            </a:pPr>
            <a:r>
              <a:t>节点是否被砍</a:t>
            </a:r>
          </a:p>
          <a:p>
            <a:pPr>
              <a:spcBef>
                <a:spcPts val="200"/>
              </a:spcBef>
              <a:defRPr sz="1050" b="0">
                <a:solidFill>
                  <a:srgbClr val="CBD5E1"/>
                </a:solidFill>
              </a:defRPr>
            </a:pPr>
            <a:r>
              <a:t>没有：2,719 → 3,231（增加的是中间层与粗类），语义边完整保留。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66744"/>
            <a:ext cx="11277295" cy="804672"/>
          </a:xfrm>
          <a:prstGeom prst="roundRect">
            <a:avLst>
              <a:gd name="adj" fmla="val 8000"/>
            </a:avLst>
          </a:prstGeom>
          <a:solidFill>
            <a:srgbClr val="1A1D18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721607"/>
            <a:ext cx="50292" cy="69494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739896"/>
            <a:ext cx="1091153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980" b="0">
                <a:solidFill>
                  <a:srgbClr val="CBD5E1"/>
                </a:solidFill>
              </a:defRPr>
            </a:pPr>
            <a:r>
              <a:t>诚实记录（两条弯路）：① 用"名字向量聚类"归并顶层 → 472 个不相关的根被塞进同一个类（抽象名词的名字向量区分度太低）；② 允许上位类型继续向上串联 → 出现 job_role ⊑ research_activity 这类链式漂移。结论：第一跳可信，多跳不可信，改为"压平到粗层"。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772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2500" b="1">
                <a:solidFill>
                  <a:srgbClr val="FBBF24"/>
                </a:solidFill>
              </a:defRPr>
            </a:pPr>
            <a:r>
              <a:t>重要发现：加数据量不能自动改善质量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</a:defRPr>
            </a:pPr>
            <a:r>
              <a:t>同流水线、同配置，只换数据量（CFR 1× / 2.5× / 10×）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11277292" cy="19568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8038"/>
                <a:gridCol w="1851496"/>
                <a:gridCol w="1346542"/>
                <a:gridCol w="2188131"/>
                <a:gridCol w="2693085"/>
              </a:tblGrid>
              <a:tr h="326135"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BBF24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BBF24"/>
                          </a:solidFill>
                        </a:defRPr>
                      </a:pPr>
                      <a:r>
                        <a:t>1×（619 篇）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BBF24"/>
                          </a:solidFill>
                        </a:defRPr>
                      </a:pPr>
                      <a:r>
                        <a:t>2.5×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BBF24"/>
                          </a:solidFill>
                        </a:defRPr>
                      </a:pPr>
                      <a:r>
                        <a:t>10×（6,190 篇）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BBF24"/>
                          </a:solidFill>
                        </a:defRPr>
                      </a:pPr>
                      <a:r>
                        <a:t>趋势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</a:tr>
              <a:tr h="326135"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有父节点比例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CBD5E1"/>
                          </a:solidFill>
                        </a:defRPr>
                      </a:pPr>
                      <a:r>
                        <a:t>24.8%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33.1%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25.6%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F87171"/>
                          </a:solidFill>
                        </a:defRPr>
                      </a:pPr>
                      <a:r>
                        <a:t>非单调，无系统性改善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</a:tr>
              <a:tr h="326135"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对齐标准本体（严格）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CBD5E1"/>
                          </a:solidFill>
                        </a:defRPr>
                      </a:pPr>
                      <a:r>
                        <a:t>4.34%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3.90%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3.09%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F87171"/>
                          </a:solidFill>
                        </a:defRPr>
                      </a:pPr>
                      <a:r>
                        <a:t>单调下降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</a:tr>
              <a:tr h="326135"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同义簇内节点占比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CBD5E1"/>
                          </a:solidFill>
                        </a:defRPr>
                      </a:pPr>
                      <a:r>
                        <a:t>25.0%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28.0%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33.0%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F87171"/>
                          </a:solidFill>
                        </a:defRPr>
                      </a:pPr>
                      <a:r>
                        <a:t>单调恶化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</a:tr>
              <a:tr h="326135"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LLM 判定采纳率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CBD5E1"/>
                          </a:solidFill>
                        </a:defRPr>
                      </a:pPr>
                      <a:r>
                        <a:t>4.9%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6.0%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9.9%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34D399"/>
                          </a:solidFill>
                        </a:defRPr>
                      </a:pPr>
                      <a:r>
                        <a:t>唯一真实收益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</a:tr>
              <a:tr h="326140"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每类型摊到的候选数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CBD5E1"/>
                          </a:solidFill>
                        </a:defRPr>
                      </a:pPr>
                      <a:r>
                        <a:t>14.78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14.75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6.90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F87171"/>
                          </a:solidFill>
                        </a:defRPr>
                      </a:pPr>
                      <a:r>
                        <a:t>10× 档腰斩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3657600"/>
            <a:ext cx="3661562" cy="868680"/>
          </a:xfrm>
          <a:prstGeom prst="roundRect">
            <a:avLst>
              <a:gd name="adj" fmla="val 8000"/>
            </a:avLst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3739896"/>
            <a:ext cx="3368954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F87171"/>
                </a:solidFill>
              </a:defRPr>
            </a:pPr>
            <a:r>
              <a:t>① 分母涨、分子同比例涨</a:t>
            </a:r>
          </a:p>
          <a:p>
            <a:pPr>
              <a:spcBef>
                <a:spcPts val="200"/>
              </a:spcBef>
              <a:defRPr sz="1050" b="0">
                <a:solidFill>
                  <a:srgbClr val="CBD5E1"/>
                </a:solidFill>
              </a:defRPr>
            </a:pPr>
            <a:r>
              <a:t>无父节点中 61% 是"有候选但被否"，真"无候选"仅 7–15%；各频次桶的有父率几乎相同（19–29%）。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65066" y="3657600"/>
            <a:ext cx="3661562" cy="868680"/>
          </a:xfrm>
          <a:prstGeom prst="roundRect">
            <a:avLst>
              <a:gd name="adj" fmla="val 8000"/>
            </a:avLst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11370" y="3739896"/>
            <a:ext cx="3368954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F87171"/>
                </a:solidFill>
              </a:defRPr>
            </a:pPr>
            <a:r>
              <a:t>② 候选召回是固定预算</a:t>
            </a:r>
          </a:p>
          <a:p>
            <a:pPr>
              <a:spcBef>
                <a:spcPts val="200"/>
              </a:spcBef>
              <a:defRPr sz="1050" b="0">
                <a:solidFill>
                  <a:srgbClr val="CBD5E1"/>
                </a:solidFill>
              </a:defRPr>
            </a:pPr>
            <a:r>
              <a:t>候选来自固定 Top-K 向量召回，数据量越大每类型摊到的候选反而越少 → 覆盖率上限被钉死。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72932" y="3657600"/>
            <a:ext cx="3661562" cy="868680"/>
          </a:xfrm>
          <a:prstGeom prst="roundRect">
            <a:avLst>
              <a:gd name="adj" fmla="val 8000"/>
            </a:avLst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9236" y="3739896"/>
            <a:ext cx="3368954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F87171"/>
                </a:solidFill>
              </a:defRPr>
            </a:pPr>
            <a:r>
              <a:t>③ 合并门槛与数据量无关</a:t>
            </a:r>
          </a:p>
          <a:p>
            <a:pPr>
              <a:spcBef>
                <a:spcPts val="200"/>
              </a:spcBef>
              <a:defRPr sz="1050" b="0">
                <a:solidFill>
                  <a:srgbClr val="CBD5E1"/>
                </a:solidFill>
              </a:defRPr>
            </a:pPr>
            <a:r>
              <a:t>"实例重叠 ≥20%"的比值门槛拦掉了 CFR 91.8% / ME 74.4% 的真同义对 —— 模型根本没机会判断。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65429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1A1D18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4709159"/>
            <a:ext cx="50292" cy="438912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727448"/>
            <a:ext cx="10911535" cy="4023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</a:defRPr>
            </a:pPr>
            <a:r>
              <a:t>归档警示：在 6–9.4× 语料上顺势放宽阈值（覆盖率 0.8）→ 本体塌缩到 14 个节点。数据量上去后放宽阈值是危险操作。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772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2500" b="1">
                <a:solidFill>
                  <a:srgbClr val="FBBF24"/>
                </a:solidFill>
              </a:defRPr>
            </a:pPr>
            <a:r>
              <a:t>顶层设计：域内自适应 + 跨域锚点层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</a:defRPr>
            </a:pPr>
            <a:r>
              <a:t>发现固定类表跨域会错配后，顶层改为按域内分布归纳（依据领域专家评审意见）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5565495" cy="1280160"/>
          </a:xfrm>
          <a:prstGeom prst="roundRect">
            <a:avLst>
              <a:gd name="adj" fmla="val 8000"/>
            </a:avLst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1636776"/>
            <a:ext cx="5272887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FBBF24"/>
                </a:solidFill>
              </a:defRPr>
            </a:pPr>
            <a:r>
              <a:t>改之前：一套固定类表跨域套用</a:t>
            </a:r>
          </a:p>
          <a:p>
            <a:pPr>
              <a:spcBef>
                <a:spcPts val="200"/>
              </a:spcBef>
              <a:defRPr sz="980" b="0">
                <a:solidFill>
                  <a:srgbClr val="CBD5E1"/>
                </a:solidFill>
              </a:defRPr>
            </a:pPr>
            <a:r>
              <a:t>把法律域的 22 类固定表套到计算机科学域，产生明显错配：theoretical_guarantee（理论保证）被判成"权利 right"、filtering_rule 被判成"文书"。根因：固定类表在多义抽象名词上必然误吸。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68999" y="1554480"/>
            <a:ext cx="5565495" cy="1280160"/>
          </a:xfrm>
          <a:prstGeom prst="roundRect">
            <a:avLst>
              <a:gd name="adj" fmla="val 8000"/>
            </a:avLst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15303" y="1636776"/>
            <a:ext cx="5272887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FBBF24"/>
                </a:solidFill>
              </a:defRPr>
            </a:pPr>
            <a:r>
              <a:t>改之后：域内自适应顶层类</a:t>
            </a:r>
          </a:p>
          <a:p>
            <a:pPr>
              <a:spcBef>
                <a:spcPts val="200"/>
              </a:spcBef>
              <a:defRPr sz="980" b="0">
                <a:solidFill>
                  <a:srgbClr val="CBD5E1"/>
                </a:solidFill>
              </a:defRPr>
            </a:pPr>
            <a:r>
              <a:t>取覆盖 85% 权重的第二层节点 → 让模型提候选顶层类（含定义 / 边界 / 正例 / 反例）→ 约束剪枝 → 对全部第二层节点重新归类。结果：13 个域内自适应类，法律类完全消失；兜底权重 4.3%（&lt;5%）、单类最大 21.2%、覆盖 100%。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80944"/>
            <a:ext cx="3661562" cy="731520"/>
          </a:xfrm>
          <a:prstGeom prst="roundRect">
            <a:avLst>
              <a:gd name="adj" fmla="val 8000"/>
            </a:avLst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3063239"/>
            <a:ext cx="336895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FBBF24"/>
                </a:solidFill>
              </a:defRPr>
            </a:pPr>
            <a:r>
              <a:t>设计选择 1</a:t>
            </a:r>
          </a:p>
          <a:p>
            <a:pPr>
              <a:spcBef>
                <a:spcPts val="200"/>
              </a:spcBef>
              <a:defRPr sz="1050" b="0">
                <a:solidFill>
                  <a:srgbClr val="CBD5E1"/>
                </a:solidFill>
              </a:defRPr>
            </a:pPr>
            <a:r>
              <a:t>顶层类域内自适应，允许不同域有不同顶层。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5066" y="2980944"/>
            <a:ext cx="3661562" cy="731520"/>
          </a:xfrm>
          <a:prstGeom prst="roundRect">
            <a:avLst>
              <a:gd name="adj" fmla="val 8000"/>
            </a:avLst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1370" y="3063239"/>
            <a:ext cx="336895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FBBF24"/>
                </a:solidFill>
              </a:defRPr>
            </a:pPr>
            <a:r>
              <a:t>设计选择 2</a:t>
            </a:r>
          </a:p>
          <a:p>
            <a:pPr>
              <a:spcBef>
                <a:spcPts val="200"/>
              </a:spcBef>
              <a:defRPr sz="1050" b="0">
                <a:solidFill>
                  <a:srgbClr val="CBD5E1"/>
                </a:solidFill>
              </a:defRPr>
            </a:pPr>
            <a:r>
              <a:t>类表开放可增长：任何作匹配层的层，类数必须随语料增长。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2932" y="2980944"/>
            <a:ext cx="3661562" cy="731520"/>
          </a:xfrm>
          <a:prstGeom prst="roundRect">
            <a:avLst>
              <a:gd name="adj" fmla="val 8000"/>
            </a:avLst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9236" y="3063239"/>
            <a:ext cx="336895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FBBF24"/>
                </a:solidFill>
              </a:defRPr>
            </a:pPr>
            <a:r>
              <a:t>设计选择 3</a:t>
            </a:r>
          </a:p>
          <a:p>
            <a:pPr>
              <a:spcBef>
                <a:spcPts val="200"/>
              </a:spcBef>
              <a:defRPr sz="1050" b="0">
                <a:solidFill>
                  <a:srgbClr val="CBD5E1"/>
                </a:solidFill>
              </a:defRPr>
            </a:pPr>
            <a:r>
              <a:t>跨域比较只在锚点层做 —— 该层不参与域内建树。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40479"/>
            <a:ext cx="11277295" cy="603504"/>
          </a:xfrm>
          <a:prstGeom prst="roundRect">
            <a:avLst>
              <a:gd name="adj" fmla="val 8000"/>
            </a:avLst>
          </a:prstGeom>
          <a:solidFill>
            <a:srgbClr val="1A1D18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895343"/>
            <a:ext cx="50292" cy="4937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913631"/>
            <a:ext cx="109115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</a:defRPr>
            </a:pPr>
            <a:r>
              <a:t>为什么必须"随语料增长"：固定 22 类在全量下覆盖率达到 100.0% 却只覆盖 48.5–60.8% 的权重 —— 一个全连通的分类层等于没有分类（退化为完全图）。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772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2500" b="1">
                <a:solidFill>
                  <a:srgbClr val="FBBF24"/>
                </a:solidFill>
              </a:defRPr>
            </a:pPr>
            <a:r>
              <a:t>跨域可比性：锚点层（CAL）的实证结果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</a:defRPr>
            </a:pPr>
            <a:r>
              <a:t>11 个元类，用同一把尺子量三个域 —— 论文里可直接使用的跨域陈述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11277292" cy="2231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5233"/>
                <a:gridCol w="2443413"/>
                <a:gridCol w="2819323"/>
                <a:gridCol w="2819323"/>
              </a:tblGrid>
              <a:tr h="318733"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BBF24"/>
                          </a:solidFill>
                        </a:defRPr>
                      </a:pPr>
                      <a:r>
                        <a:t>锚点元类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BBF24"/>
                          </a:solidFill>
                        </a:defRPr>
                      </a:pPr>
                      <a:r>
                        <a:t>CFR（美国法规）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BBF24"/>
                          </a:solidFill>
                        </a:defRPr>
                      </a:pPr>
                      <a:r>
                        <a:t>MultiEURLEX（欧盟法）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BBF24"/>
                          </a:solidFill>
                        </a:defRPr>
                      </a:pPr>
                      <a:r>
                        <a:t>arXiv（计算机科学）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</a:tr>
              <a:tr h="318733"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文书 / 信息载体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F1F5F9"/>
                          </a:solidFill>
                        </a:defRPr>
                      </a:pPr>
                      <a:r>
                        <a:t>35.6%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F1F5F9"/>
                          </a:solidFill>
                        </a:defRPr>
                      </a:pPr>
                      <a:r>
                        <a:t>47.9%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F87171"/>
                          </a:solidFill>
                        </a:defRPr>
                      </a:pPr>
                      <a:r>
                        <a:t>1.6%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</a:tr>
              <a:tr h="318733"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方法 / 模型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F87171"/>
                          </a:solidFill>
                        </a:defRPr>
                      </a:pPr>
                      <a:r>
                        <a:t>2.0%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F87171"/>
                          </a:solidFill>
                        </a:defRPr>
                      </a:pPr>
                      <a:r>
                        <a:t>2.3%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F1F5F9"/>
                          </a:solidFill>
                        </a:defRPr>
                      </a:pPr>
                      <a:r>
                        <a:t>36.3%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</a:tr>
              <a:tr h="318733"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主体 / 行为者（Agent）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F1F5F9"/>
                          </a:solidFill>
                        </a:defRPr>
                      </a:pPr>
                      <a:r>
                        <a:t>26.3%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F1F5F9"/>
                          </a:solidFill>
                        </a:defRPr>
                      </a:pPr>
                      <a:r>
                        <a:t>31.9%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F1F5F9"/>
                          </a:solidFill>
                        </a:defRPr>
                      </a:pPr>
                      <a:r>
                        <a:t>24.9%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</a:tr>
              <a:tr h="318733"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数据 / 资源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CBD5E1"/>
                          </a:solidFill>
                        </a:defRPr>
                      </a:pPr>
                      <a:r>
                        <a:t>7.5%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2.3%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F1F5F9"/>
                          </a:solidFill>
                        </a:defRPr>
                      </a:pPr>
                      <a:r>
                        <a:t>24.5%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</a:tr>
              <a:tr h="318733"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规范性地位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CBD5E1"/>
                          </a:solidFill>
                        </a:defRPr>
                      </a:pPr>
                      <a:r>
                        <a:t>6.1%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2.4%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F87171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</a:tr>
              <a:tr h="318738"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兜底（Concept）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CBD5E1"/>
                          </a:solidFill>
                        </a:defRPr>
                      </a:pPr>
                      <a:r>
                        <a:t>9.9%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2.9%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4.3%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3950208"/>
            <a:ext cx="3661562" cy="868680"/>
          </a:xfrm>
          <a:prstGeom prst="roundRect">
            <a:avLst>
              <a:gd name="adj" fmla="val 8000"/>
            </a:avLst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4032504"/>
            <a:ext cx="3368954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34D399"/>
                </a:solidFill>
              </a:defRPr>
            </a:pPr>
            <a:r>
              <a:t>两个法律域</a:t>
            </a:r>
          </a:p>
          <a:p>
            <a:pPr>
              <a:spcBef>
                <a:spcPts val="200"/>
              </a:spcBef>
              <a:defRPr sz="1050" b="0">
                <a:solidFill>
                  <a:srgbClr val="CBD5E1"/>
                </a:solidFill>
              </a:defRPr>
            </a:pPr>
            <a:r>
              <a:t>由文书 + 规范性地位主导，结构相似（35.6/47.9% 与 6.1/2.4%）。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65066" y="3950208"/>
            <a:ext cx="3661562" cy="868680"/>
          </a:xfrm>
          <a:prstGeom prst="roundRect">
            <a:avLst>
              <a:gd name="adj" fmla="val 8000"/>
            </a:avLst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11370" y="4032504"/>
            <a:ext cx="3368954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34D399"/>
                </a:solidFill>
              </a:defRPr>
            </a:pPr>
            <a:r>
              <a:t>计算机科学域</a:t>
            </a:r>
          </a:p>
          <a:p>
            <a:pPr>
              <a:spcBef>
                <a:spcPts val="200"/>
              </a:spcBef>
              <a:defRPr sz="1050" b="0">
                <a:solidFill>
                  <a:srgbClr val="CBD5E1"/>
                </a:solidFill>
              </a:defRPr>
            </a:pPr>
            <a:r>
              <a:t>由方法模型 + 数据资源主导，文书类几乎为 0 —— 域特征被锚点层干净地捕捉到。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72932" y="3950208"/>
            <a:ext cx="3661562" cy="868680"/>
          </a:xfrm>
          <a:prstGeom prst="roundRect">
            <a:avLst>
              <a:gd name="adj" fmla="val 8000"/>
            </a:avLst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9236" y="4032504"/>
            <a:ext cx="3368954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34D399"/>
                </a:solidFill>
              </a:defRPr>
            </a:pPr>
            <a:r>
              <a:t>唯一跨域稳定元类</a:t>
            </a:r>
          </a:p>
          <a:p>
            <a:pPr>
              <a:spcBef>
                <a:spcPts val="200"/>
              </a:spcBef>
              <a:defRPr sz="1050" b="0">
                <a:solidFill>
                  <a:srgbClr val="CBD5E1"/>
                </a:solidFill>
              </a:defRPr>
            </a:pPr>
            <a:r>
              <a:t>主体 / 行为者（Agent）：三域均为 25–32%。这是三域唯一真正稳定的锚点，也是一个可被独立验证的实证结论。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772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2500" b="1">
                <a:solidFill>
                  <a:srgbClr val="FBBF24"/>
                </a:solidFill>
              </a:defRPr>
            </a:pPr>
            <a:r>
              <a:t>当前 P0：异词同义合并（跨父）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</a:defRPr>
            </a:pPr>
            <a:r>
              <a:t>老师指定的优先方向 —— 也是质量报告点名的最大短板（同一概念 5 种叫法并存）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5565495" cy="1074420"/>
          </a:xfrm>
          <a:prstGeom prst="roundRect">
            <a:avLst>
              <a:gd name="adj" fmla="val 8000"/>
            </a:avLst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1636776"/>
            <a:ext cx="5272887" cy="9098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F87171"/>
                </a:solidFill>
              </a:defRPr>
            </a:pPr>
            <a:r>
              <a:t>旧口径：三条证据里最弱的那条被当成硬门槛</a:t>
            </a:r>
          </a:p>
          <a:p>
            <a:pPr>
              <a:spcBef>
                <a:spcPts val="200"/>
              </a:spcBef>
              <a:defRPr sz="980" b="0">
                <a:solidFill>
                  <a:srgbClr val="CBD5E1"/>
                </a:solidFill>
              </a:defRPr>
            </a:pPr>
            <a:r>
              <a:t>合并候选要求"实例重叠 ≥ 20%"。实测该门槛把 73% 的规则通过候选挡在模型判断之前（例：statutory_exemption 与 statutory_exclusion 名称相似度 0.933、邻域 0.888，但实例重叠为 0）。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68999" y="1554480"/>
            <a:ext cx="5565495" cy="1074420"/>
          </a:xfrm>
          <a:prstGeom prst="roundRect">
            <a:avLst>
              <a:gd name="adj" fmla="val 8000"/>
            </a:avLst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15303" y="1636776"/>
            <a:ext cx="5272887" cy="9098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F87171"/>
                </a:solidFill>
              </a:defRPr>
            </a:pPr>
            <a:r>
              <a:t>新口径：三证据 + 模型仲裁 + 上下位护栏</a:t>
            </a:r>
          </a:p>
          <a:p>
            <a:pPr>
              <a:spcBef>
                <a:spcPts val="200"/>
              </a:spcBef>
              <a:defRPr sz="1050" b="0">
                <a:solidFill>
                  <a:srgbClr val="CBD5E1"/>
                </a:solidFill>
              </a:defRPr>
            </a:pPr>
            <a:r>
              <a:t>① 名称语义 ≥0.90；② 邻域频次向量余弦（替代稀疏 Jaccard）；③ 实例重叠降级为支持证据。三条一起送模型判定，另加护栏：名称严格真包含的关系一律判为上下位、禁止合并。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93491"/>
            <a:ext cx="2709595" cy="914400"/>
          </a:xfrm>
          <a:prstGeom prst="roundRect">
            <a:avLst>
              <a:gd name="adj" fmla="val 8000"/>
            </a:avLst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84932"/>
            <a:ext cx="25267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</a:defRPr>
            </a:pPr>
            <a:r>
              <a:t>2,324</a:t>
            </a:r>
          </a:p>
          <a:p>
            <a:pPr algn="ctr">
              <a:spcBef>
                <a:spcPts val="300"/>
              </a:spcBef>
              <a:defRPr sz="950" b="0">
                <a:solidFill>
                  <a:srgbClr val="94A3B8"/>
                </a:solidFill>
              </a:defRPr>
            </a:pPr>
            <a:r>
              <a:t>类型总数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3099" y="2793491"/>
            <a:ext cx="2709595" cy="914400"/>
          </a:xfrm>
          <a:prstGeom prst="roundRect">
            <a:avLst>
              <a:gd name="adj" fmla="val 8000"/>
            </a:avLst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04539" y="2884932"/>
            <a:ext cx="25267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</a:defRPr>
            </a:pPr>
            <a:r>
              <a:t>426 → 107</a:t>
            </a:r>
          </a:p>
          <a:p>
            <a:pPr algn="ctr">
              <a:spcBef>
                <a:spcPts val="300"/>
              </a:spcBef>
              <a:defRPr sz="950" b="0">
                <a:solidFill>
                  <a:srgbClr val="94A3B8"/>
                </a:solidFill>
              </a:defRPr>
            </a:pPr>
            <a:r>
              <a:t>名称候选 → 规则通过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8999" y="2793491"/>
            <a:ext cx="2709595" cy="914400"/>
          </a:xfrm>
          <a:prstGeom prst="roundRect">
            <a:avLst>
              <a:gd name="adj" fmla="val 8000"/>
            </a:avLst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0439" y="2884932"/>
            <a:ext cx="25267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2200" b="1">
                <a:solidFill>
                  <a:srgbClr val="F87171"/>
                </a:solidFill>
              </a:defRPr>
            </a:pPr>
            <a:r>
              <a:t>73%</a:t>
            </a:r>
          </a:p>
          <a:p>
            <a:pPr algn="ctr">
              <a:spcBef>
                <a:spcPts val="300"/>
              </a:spcBef>
              <a:defRPr sz="950" b="0">
                <a:solidFill>
                  <a:srgbClr val="94A3B8"/>
                </a:solidFill>
              </a:defRPr>
            </a:pPr>
            <a:r>
              <a:t>其中实例重叠 = 0（旧门槛全部拦掉）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24899" y="2793491"/>
            <a:ext cx="2709595" cy="914400"/>
          </a:xfrm>
          <a:prstGeom prst="roundRect">
            <a:avLst>
              <a:gd name="adj" fmla="val 8000"/>
            </a:avLst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16339" y="2884932"/>
            <a:ext cx="25267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2200" b="1">
                <a:solidFill>
                  <a:srgbClr val="34D399"/>
                </a:solidFill>
              </a:defRPr>
            </a:pPr>
            <a:r>
              <a:t>12 对</a:t>
            </a:r>
          </a:p>
          <a:p>
            <a:pPr algn="ctr">
              <a:spcBef>
                <a:spcPts val="300"/>
              </a:spcBef>
              <a:defRPr sz="950" b="0">
                <a:solidFill>
                  <a:srgbClr val="94A3B8"/>
                </a:solidFill>
              </a:defRPr>
            </a:pPr>
            <a:r>
              <a:t>最终合并（前后指标无回退）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54196"/>
            <a:ext cx="11277295" cy="914400"/>
          </a:xfrm>
          <a:prstGeom prst="roundRect">
            <a:avLst>
              <a:gd name="adj" fmla="val 8000"/>
            </a:avLst>
          </a:prstGeom>
          <a:solidFill>
            <a:srgbClr val="1A1D18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909059"/>
            <a:ext cx="50292" cy="804672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27348"/>
            <a:ext cx="10911535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</a:defRPr>
            </a:pPr>
            <a:r>
              <a:t>本轮最重要的发现：两套模型的判定一致率 95%（102/107），且严格程度相当 —— 瓶颈已从"过滤器"转移到"判定框架"，换更大的模型没有收益。两套模型都拒掉了强证据对（如 structural_requirement + structural_design_requirement，邻域相似度高达 0.949）：它们把"限定词不同的变体"判成了不同概念。下一轮的杠杆在提示词框架，不在模型规模。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772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2500" b="1">
                <a:solidFill>
                  <a:srgbClr val="FBBF24"/>
                </a:solidFill>
              </a:defRPr>
            </a:pPr>
            <a:r>
              <a:t>评价口径：正在收紧（论文主表的基础）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</a:defRPr>
            </a:pPr>
            <a:r>
              <a:t>目前所有指标都是"分母 = 全部预测节点 / 全部节点"，不使用只算成功映射的虚高口径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5565495" cy="1074420"/>
          </a:xfrm>
          <a:prstGeom prst="roundRect">
            <a:avLst>
              <a:gd name="adj" fmla="val 8000"/>
            </a:avLst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1636776"/>
            <a:ext cx="5272887" cy="9098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34D399"/>
                </a:solidFill>
              </a:defRPr>
            </a:pPr>
            <a:r>
              <a:t>核心指标：Verified Coverage（可验证覆盖率）</a:t>
            </a:r>
          </a:p>
          <a:p>
            <a:pPr>
              <a:spcBef>
                <a:spcPts val="200"/>
              </a:spcBef>
              <a:defRPr sz="980" b="0">
                <a:solidFill>
                  <a:srgbClr val="CBD5E1"/>
                </a:solidFill>
              </a:defRPr>
            </a:pPr>
            <a:r>
              <a:t>用人工抽检验证过的区间来定义覆盖率，而不是把机器相似度高的部分当成全部正确。实测教训：相似度 0.85 以上的段人工验证 15/15 可接受，但 0.70–0.85 段只有约 28% 正确、32% 是错的 —— 该段只能作为"候选"，不能进结论。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68999" y="1554480"/>
            <a:ext cx="5565495" cy="1074420"/>
          </a:xfrm>
          <a:prstGeom prst="roundRect">
            <a:avLst>
              <a:gd name="adj" fmla="val 8000"/>
            </a:avLst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15303" y="1636776"/>
            <a:ext cx="5272887" cy="9098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34D399"/>
                </a:solidFill>
              </a:defRPr>
            </a:pPr>
            <a:r>
              <a:t>要一并报告的指标</a:t>
            </a:r>
          </a:p>
          <a:p>
            <a:pPr>
              <a:spcBef>
                <a:spcPts val="200"/>
              </a:spcBef>
              <a:defRPr sz="980" b="0">
                <a:solidFill>
                  <a:srgbClr val="CBD5E1"/>
                </a:solidFill>
              </a:defRPr>
            </a:pPr>
            <a:r>
              <a:t>① 精确率 / 召回率 / F1（分母含全部预测）；② 四级匹配：Exact / Subsumption / Partial / Wrong；③ 标注一致性 κ（人工判定的一致性）；④ 保留自动指标时必须给出 PR 曲线，不能只报单点。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93491"/>
            <a:ext cx="3661562" cy="868680"/>
          </a:xfrm>
          <a:prstGeom prst="roundRect">
            <a:avLst>
              <a:gd name="adj" fmla="val 8000"/>
            </a:avLst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2875787"/>
            <a:ext cx="3368954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34D399"/>
                </a:solidFill>
              </a:defRPr>
            </a:pPr>
            <a:r>
              <a:t>已排除的口径风险</a:t>
            </a:r>
          </a:p>
          <a:p>
            <a:pPr>
              <a:spcBef>
                <a:spcPts val="200"/>
              </a:spcBef>
              <a:defRPr sz="1050" b="0">
                <a:solidFill>
                  <a:srgbClr val="CBD5E1"/>
                </a:solidFill>
              </a:defRPr>
            </a:pPr>
            <a:r>
              <a:t>曾出现"只算成功映射节点"的精确率虚高至 0.71，真实值仅 0.10 —— 分母口径已改为全部预测节点。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5066" y="2793491"/>
            <a:ext cx="3661562" cy="868680"/>
          </a:xfrm>
          <a:prstGeom prst="roundRect">
            <a:avLst>
              <a:gd name="adj" fmla="val 8000"/>
            </a:avLst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1370" y="2875787"/>
            <a:ext cx="3368954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34D399"/>
                </a:solidFill>
              </a:defRPr>
            </a:pPr>
            <a:r>
              <a:t>已修正的脚本误判</a:t>
            </a:r>
          </a:p>
          <a:p>
            <a:pPr>
              <a:spcBef>
                <a:spcPts val="200"/>
              </a:spcBef>
              <a:defRPr sz="1050" b="0">
                <a:solidFill>
                  <a:srgbClr val="CBD5E1"/>
                </a:solidFill>
              </a:defRPr>
            </a:pPr>
            <a:r>
              <a:t>曾把 DAG 多父节点被重复遍历判为"存在上下位环" —— 用无环检测复核后：三域真环数均为 0。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2932" y="2793491"/>
            <a:ext cx="3661562" cy="868680"/>
          </a:xfrm>
          <a:prstGeom prst="roundRect">
            <a:avLst>
              <a:gd name="adj" fmla="val 8000"/>
            </a:avLst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9236" y="2875787"/>
            <a:ext cx="3368954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34D399"/>
                </a:solidFill>
              </a:defRPr>
            </a:pPr>
            <a:r>
              <a:t>可比的跨域口径</a:t>
            </a:r>
          </a:p>
          <a:p>
            <a:pPr>
              <a:spcBef>
                <a:spcPts val="200"/>
              </a:spcBef>
              <a:defRPr sz="1050" b="0">
                <a:solidFill>
                  <a:srgbClr val="CBD5E1"/>
                </a:solidFill>
              </a:defRPr>
            </a:pPr>
            <a:r>
              <a:t>域内顶层类允许不同，跨域比较只在锚点层做 → 保证跨域结论与域内细节不互相污染。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772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2500" b="1">
                <a:solidFill>
                  <a:srgbClr val="FBBF24"/>
                </a:solidFill>
              </a:defRPr>
            </a:pPr>
            <a:r>
              <a:t>下一步的工作与可能的学术方向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77294" cy="19568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4525"/>
                <a:gridCol w="3933940"/>
                <a:gridCol w="1311313"/>
                <a:gridCol w="5507516"/>
              </a:tblGrid>
              <a:tr h="326135"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BBF24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BBF24"/>
                          </a:solidFill>
                        </a:defRPr>
                      </a:pPr>
                      <a:r>
                        <a:t>工作项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BBF24"/>
                          </a:solidFill>
                        </a:defRPr>
                      </a:pPr>
                      <a:r>
                        <a:t>现状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BBF24"/>
                          </a:solidFill>
                        </a:defRPr>
                      </a:pPr>
                      <a:r>
                        <a:t>核心问题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</a:tr>
              <a:tr h="326135"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CBD5E1"/>
                          </a:solidFill>
                        </a:defRPr>
                      </a:pPr>
                      <a:r>
                        <a:t>异词同义合并（跨父）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34D399"/>
                          </a:solidFill>
                        </a:defRPr>
                      </a:pPr>
                      <a:r>
                        <a:t>进行中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改判定框架 + 强证据带直并，推广到另两个域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</a:tr>
              <a:tr h="326135"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CBD5E1"/>
                          </a:solidFill>
                        </a:defRPr>
                      </a:pPr>
                      <a:r>
                        <a:t>评价口径落地为论文主表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进行中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Verified Coverage + PR 曲线 + 四级匹配 + κ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</a:tr>
              <a:tr h="326135"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CBD5E1"/>
                          </a:solidFill>
                        </a:defRPr>
                      </a:pPr>
                      <a:r>
                        <a:t>顶层设计的消融实验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待开展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固定类表 / 域内固定不增长 / 无锚点 / 有锚点 / 无顶层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</a:tr>
              <a:tr h="326135"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CBD5E1"/>
                          </a:solidFill>
                        </a:defRPr>
                      </a:pPr>
                      <a:r>
                        <a:t>增量拼接（阶段③）的规模化验证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待开展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流式追加数据时，本体的稳定性与漂移控制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</a:tr>
              <a:tr h="326140"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CBD5E1"/>
                          </a:solidFill>
                        </a:defRPr>
                      </a:pPr>
                      <a:r>
                        <a:t>三层抽取与 star 化接入主树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待接入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0">
                          <a:solidFill>
                            <a:srgbClr val="CBD5E1"/>
                          </a:solidFill>
                        </a:defRPr>
                      </a:pPr>
                      <a:r>
                        <a:t>把已定稿机制统一到同一条主线</a:t>
                      </a:r>
                    </a:p>
                  </a:txBody>
                  <a:tcPr marL="45720" marR="45720" marT="18288" marB="18288" anchor="ctr">
                    <a:solidFill>
                      <a:srgbClr val="1B2435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3200400"/>
            <a:ext cx="11277295" cy="566928"/>
          </a:xfrm>
          <a:prstGeom prst="roundRect">
            <a:avLst>
              <a:gd name="adj" fmla="val 8000"/>
            </a:avLst>
          </a:prstGeom>
          <a:solidFill>
            <a:srgbClr val="1A1D18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255264"/>
            <a:ext cx="50292" cy="4572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73552"/>
            <a:ext cx="10911535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</a:defRPr>
            </a:pPr>
            <a:r>
              <a:t>可能的投稿方向：方法论主线（统计收敛 + 域内自适应顶层 + 锚点式跨域）→ KDD / ACL 一级；本体工程与语义网方向 → ISWC / VLDB。具体定位待评价口径定稿后再定。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95344"/>
            <a:ext cx="3661562" cy="868680"/>
          </a:xfrm>
          <a:prstGeom prst="roundRect">
            <a:avLst>
              <a:gd name="adj" fmla="val 8000"/>
            </a:avLst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3977639"/>
            <a:ext cx="3368954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FBBF24"/>
                </a:solidFill>
              </a:defRPr>
            </a:pPr>
            <a:r>
              <a:t>可讲的故事 1</a:t>
            </a:r>
          </a:p>
          <a:p>
            <a:pPr>
              <a:spcBef>
                <a:spcPts val="200"/>
              </a:spcBef>
              <a:defRPr sz="1050" b="0">
                <a:solidFill>
                  <a:srgbClr val="CBD5E1"/>
                </a:solidFill>
              </a:defRPr>
            </a:pPr>
            <a:r>
              <a:t>单个文档里的上位关系不可靠，跨文档统计频次才是可靠信号 —— 统计收敛作归纳偏置。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5066" y="3895344"/>
            <a:ext cx="3661562" cy="868680"/>
          </a:xfrm>
          <a:prstGeom prst="roundRect">
            <a:avLst>
              <a:gd name="adj" fmla="val 8000"/>
            </a:avLst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1370" y="3977639"/>
            <a:ext cx="3368954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FBBF24"/>
                </a:solidFill>
              </a:defRPr>
            </a:pPr>
            <a:r>
              <a:t>可讲的故事 2</a:t>
            </a:r>
          </a:p>
          <a:p>
            <a:pPr>
              <a:spcBef>
                <a:spcPts val="200"/>
              </a:spcBef>
              <a:defRPr sz="1050" b="0">
                <a:solidFill>
                  <a:srgbClr val="CBD5E1"/>
                </a:solidFill>
              </a:defRPr>
            </a:pPr>
            <a:r>
              <a:t>"加数据量不改善质量"的机制诊断：固定预算 + 比值门槛 是三个可复现的失败模式。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2932" y="3895344"/>
            <a:ext cx="3661562" cy="868680"/>
          </a:xfrm>
          <a:prstGeom prst="roundRect">
            <a:avLst>
              <a:gd name="adj" fmla="val 8000"/>
            </a:avLst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9236" y="3977639"/>
            <a:ext cx="3368954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FBBF24"/>
                </a:solidFill>
              </a:defRPr>
            </a:pPr>
            <a:r>
              <a:t>可讲的故事 3</a:t>
            </a:r>
          </a:p>
          <a:p>
            <a:pPr>
              <a:spcBef>
                <a:spcPts val="200"/>
              </a:spcBef>
              <a:defRPr sz="1050" b="0">
                <a:solidFill>
                  <a:srgbClr val="CBD5E1"/>
                </a:solidFill>
              </a:defRPr>
            </a:pPr>
            <a:r>
              <a:t>域内自适应顶层 + 跨域锚点层：让 LLM 本体学习在单数据集上闭环，同时保持跨域可比。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772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2500" b="1">
                <a:solidFill>
                  <a:srgbClr val="FBBF24"/>
                </a:solidFill>
              </a:defRPr>
            </a:pPr>
            <a:r>
              <a:t>一页小结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565495" cy="1280160"/>
          </a:xfrm>
          <a:prstGeom prst="roundRect">
            <a:avLst>
              <a:gd name="adj" fmla="val 8000"/>
            </a:avLst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179576"/>
            <a:ext cx="5272887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34D399"/>
                </a:solidFill>
              </a:defRPr>
            </a:pPr>
            <a:r>
              <a:t>已经拿到的</a:t>
            </a:r>
          </a:p>
          <a:p>
            <a:pPr>
              <a:spcBef>
                <a:spcPts val="200"/>
              </a:spcBef>
              <a:defRPr sz="980" b="0">
                <a:solidFill>
                  <a:srgbClr val="CBD5E1"/>
                </a:solidFill>
              </a:defRPr>
            </a:pPr>
            <a:r>
              <a:t>① 三域本体树全部为单连通、无环、有父率 &gt;99.8% 的规整三层结构（此前 74–77% 是碎片）；② 抽取三层 prompt 定稿，明显错误率 &lt;1%；③ star 化让碎片压缩 3.6–7.3×、劈半复现性 +25–40%；④ 跨域锚点层给出三域可比的实证分布（Agent 是唯一稳定元类）。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68999" y="1097280"/>
            <a:ext cx="5565495" cy="1280160"/>
          </a:xfrm>
          <a:prstGeom prst="roundRect">
            <a:avLst>
              <a:gd name="adj" fmla="val 8000"/>
            </a:avLst>
          </a:prstGeom>
          <a:solidFill>
            <a:srgbClr val="16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15303" y="1179576"/>
            <a:ext cx="5272887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50" b="1">
                <a:solidFill>
                  <a:srgbClr val="34D399"/>
                </a:solidFill>
              </a:defRPr>
            </a:pPr>
            <a:r>
              <a:t>正在攻的</a:t>
            </a:r>
          </a:p>
          <a:p>
            <a:pPr>
              <a:spcBef>
                <a:spcPts val="200"/>
              </a:spcBef>
              <a:defRPr sz="980" b="0">
                <a:solidFill>
                  <a:srgbClr val="CBD5E1"/>
                </a:solidFill>
              </a:defRPr>
            </a:pPr>
            <a:r>
              <a:t>① 异词同义合并（老师指定的优先级）：门槛问题已证实并被绕过，瓶颈已定位到判定框架；② 评价口径：把"可验证覆盖率 + PR 曲线 + 四级匹配"做成论文主表；③ 顶层设计的五组消融与三层抽取接入主树。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560320"/>
            <a:ext cx="11277295" cy="685800"/>
          </a:xfrm>
          <a:prstGeom prst="roundRect">
            <a:avLst>
              <a:gd name="adj" fmla="val 8000"/>
            </a:avLst>
          </a:prstGeom>
          <a:solidFill>
            <a:srgbClr val="1A1D18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615184"/>
            <a:ext cx="50292" cy="576072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33472"/>
            <a:ext cx="10911535" cy="539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</a:defRPr>
            </a:pPr>
            <a:r>
              <a:t>一句话定位：把"学本体"还原成"学 Schema" —— 用类型级统计收敛把 LLM 的语义判断锚定在可复现的频次证据上，并在单数据集内闭环、在锚点层上跨域可比。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